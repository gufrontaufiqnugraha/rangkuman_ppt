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4C5DE453-C2F8-22EB-C1EB-4CF5872C57EE}">
          <p14:sldIdLst>
            <p14:sldId id="256"/>
          </p14:sldIdLst>
        </p14:section>
        <p14:section name="Bab 1 Pengenalan" id="{6ED2CD79-35BA-4F35-DC0A-EF17493B7DDF}">
          <p14:sldIdLst>
            <p14:sldId id="257"/>
          </p14:sldIdLst>
        </p14:section>
        <p14:section name="Bab 2 Komponen Dasar" id="{E6A724D8-691E-76D7-D4E1-7D2175D42117}">
          <p14:sldIdLst>
            <p14:sldId id="258"/>
          </p14:sldIdLst>
        </p14:section>
        <p14:section name="Bab 3 UI/UX" id="{2FBA30AE-5B37-2D03-2C82-CEEE47DCCF95}">
          <p14:sldIdLst>
            <p14:sldId id="259"/>
          </p14:sldIdLst>
        </p14:section>
        <p14:section name="Bab 4 Background Task" id="{B95FEF20-81B6-2441-DFE2-7463E1F2B0ED}">
          <p14:sldIdLst>
            <p14:sldId id="260"/>
          </p14:sldIdLst>
        </p14:section>
        <p14:section name="Bab 5 Penyimpanan Data" id="{1E31CC5D-AF3F-3F8C-EDB6-422F7B93E8EE}">
          <p14:sldIdLst>
            <p14:sldId id="261"/>
          </p14:sldIdLst>
        </p14:section>
        <p14:section name="Bab 6 Firebase" id="{E11FE09C-4F5B-C8DD-0290-76F9AB3C239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2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242316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443484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/>
              <a:t>Nama: Michael Sergio Vernandez Sinurat</a:t>
            </a:r>
          </a:p>
          <a:p>
            <a:pPr marL="0" indent="0">
              <a:buNone/>
            </a:pPr>
            <a:r>
              <a:rPr lang="en-US" sz="1800" dirty="0"/>
              <a:t>Nim   : 2302144</a:t>
            </a:r>
          </a:p>
          <a:p>
            <a:pPr marL="0" indent="0">
              <a:buNone/>
            </a:pPr>
            <a:r>
              <a:rPr lang="en-US" sz="1800" dirty="0" err="1"/>
              <a:t>Kelas</a:t>
            </a:r>
            <a:r>
              <a:rPr lang="en-US" sz="1800" dirty="0"/>
              <a:t> : 23S04 </a:t>
            </a:r>
          </a:p>
        </p:txBody>
      </p:sp>
      <p:sp>
        <p:nvSpPr>
          <p:cNvPr id="4" name="Text 0"/>
          <p:cNvSpPr/>
          <p:nvPr/>
        </p:nvSpPr>
        <p:spPr>
          <a:xfrm>
            <a:off x="548640" y="61722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Android latar"/>
          <p:cNvSpPr/>
          <p:nvPr/>
        </p:nvSpPr>
        <p:spPr>
          <a:xfrm>
            <a:off x="548640" y="10515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Logo Android" descr="Logo Andro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268730"/>
            <a:ext cx="434340" cy="434340"/>
          </a:xfrm>
          <a:prstGeom prst="rect">
            <a:avLst/>
          </a:prstGeom>
        </p:spPr>
      </p:pic>
      <p:sp>
        <p:nvSpPr>
          <p:cNvPr id="4" name="Penanda"/>
          <p:cNvSpPr txBox="1"/>
          <p:nvPr/>
        </p:nvSpPr>
        <p:spPr>
          <a:xfrm>
            <a:off x="548640" y="2011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RANGKUMAN BAB 1–6</a:t>
            </a: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4231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Pemrograman Mobile Android dengan Java</a:t>
            </a:r>
            <a:endParaRPr lang="en-US" sz="44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4434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Nama : Gufron </a:t>
            </a:r>
            <a:r>
              <a:rPr lang="en-US" dirty="0" err="1"/>
              <a:t>Taufiq</a:t>
            </a:r>
            <a:r>
              <a:rPr lang="en-US" dirty="0"/>
              <a:t> Nugraha</a:t>
            </a:r>
          </a:p>
          <a:p>
            <a:pPr marL="0" indent="0">
              <a:buNone/>
            </a:pPr>
            <a:r>
              <a:rPr lang="en-US" dirty="0"/>
              <a:t>Nim    : 2302140</a:t>
            </a:r>
          </a:p>
          <a:p>
            <a:pPr marL="0" indent="0">
              <a:buNone/>
            </a:pPr>
            <a:r>
              <a:rPr lang="en-US" dirty="0" err="1"/>
              <a:t>Kelas</a:t>
            </a:r>
            <a:r>
              <a:rPr lang="en-US" dirty="0"/>
              <a:t>  : 23S04</a:t>
            </a:r>
            <a:endParaRPr lang="en-US" sz="1800" dirty="0"/>
          </a:p>
        </p:txBody>
      </p:sp>
      <p:sp>
        <p:nvSpPr>
          <p:cNvPr id="7" name="Baris bab 1"/>
          <p:cNvSpPr/>
          <p:nvPr/>
        </p:nvSpPr>
        <p:spPr>
          <a:xfrm>
            <a:off x="7406640" y="960120"/>
            <a:ext cx="4233672" cy="713232"/>
          </a:xfrm>
          <a:prstGeom prst="roundRect">
            <a:avLst>
              <a:gd name="adj" fmla="val 1282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8" name="Nomor 1"/>
          <p:cNvSpPr txBox="1"/>
          <p:nvPr/>
        </p:nvSpPr>
        <p:spPr>
          <a:xfrm>
            <a:off x="7589520" y="106527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Judul bab 1"/>
          <p:cNvSpPr txBox="1"/>
          <p:nvPr/>
        </p:nvSpPr>
        <p:spPr>
          <a:xfrm>
            <a:off x="8275320" y="9601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Pengenalan Android</a:t>
            </a:r>
            <a:endParaRPr lang="en-US" sz="1600" dirty="0"/>
          </a:p>
        </p:txBody>
      </p:sp>
      <p:sp>
        <p:nvSpPr>
          <p:cNvPr id="10" name="Baris bab 2"/>
          <p:cNvSpPr/>
          <p:nvPr/>
        </p:nvSpPr>
        <p:spPr>
          <a:xfrm>
            <a:off x="7406640" y="1792224"/>
            <a:ext cx="4233672" cy="713232"/>
          </a:xfrm>
          <a:prstGeom prst="roundRect">
            <a:avLst>
              <a:gd name="adj" fmla="val 1282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Nomor 2"/>
          <p:cNvSpPr txBox="1"/>
          <p:nvPr/>
        </p:nvSpPr>
        <p:spPr>
          <a:xfrm>
            <a:off x="7589520" y="18973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Judul bab 2"/>
          <p:cNvSpPr txBox="1"/>
          <p:nvPr/>
        </p:nvSpPr>
        <p:spPr>
          <a:xfrm>
            <a:off x="8275320" y="17922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Activity, Intent, Fragment</a:t>
            </a:r>
            <a:endParaRPr lang="en-US" sz="1600" dirty="0"/>
          </a:p>
        </p:txBody>
      </p:sp>
      <p:sp>
        <p:nvSpPr>
          <p:cNvPr id="13" name="Baris bab 3"/>
          <p:cNvSpPr/>
          <p:nvPr/>
        </p:nvSpPr>
        <p:spPr>
          <a:xfrm>
            <a:off x="7406640" y="2624328"/>
            <a:ext cx="4233672" cy="713232"/>
          </a:xfrm>
          <a:prstGeom prst="roundRect">
            <a:avLst>
              <a:gd name="adj" fmla="val 1282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4" name="Nomor 3"/>
          <p:cNvSpPr txBox="1"/>
          <p:nvPr/>
        </p:nvSpPr>
        <p:spPr>
          <a:xfrm>
            <a:off x="7589520" y="272948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Judul bab 3"/>
          <p:cNvSpPr txBox="1"/>
          <p:nvPr/>
        </p:nvSpPr>
        <p:spPr>
          <a:xfrm>
            <a:off x="8275320" y="26243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UI/UX &amp; RecyclerView</a:t>
            </a:r>
            <a:endParaRPr lang="en-US" sz="1600" dirty="0"/>
          </a:p>
        </p:txBody>
      </p:sp>
      <p:sp>
        <p:nvSpPr>
          <p:cNvPr id="16" name="Baris bab 4"/>
          <p:cNvSpPr/>
          <p:nvPr/>
        </p:nvSpPr>
        <p:spPr>
          <a:xfrm>
            <a:off x="7406640" y="3456432"/>
            <a:ext cx="4233672" cy="713232"/>
          </a:xfrm>
          <a:prstGeom prst="roundRect">
            <a:avLst>
              <a:gd name="adj" fmla="val 1282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7" name="Nomor 4"/>
          <p:cNvSpPr txBox="1"/>
          <p:nvPr/>
        </p:nvSpPr>
        <p:spPr>
          <a:xfrm>
            <a:off x="7589520" y="356158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Judul bab 4"/>
          <p:cNvSpPr txBox="1"/>
          <p:nvPr/>
        </p:nvSpPr>
        <p:spPr>
          <a:xfrm>
            <a:off x="8275320" y="34564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Background Task &amp; Notifikasi</a:t>
            </a:r>
            <a:endParaRPr lang="en-US" sz="1600" dirty="0"/>
          </a:p>
        </p:txBody>
      </p:sp>
      <p:sp>
        <p:nvSpPr>
          <p:cNvPr id="19" name="Baris bab 5"/>
          <p:cNvSpPr/>
          <p:nvPr/>
        </p:nvSpPr>
        <p:spPr>
          <a:xfrm>
            <a:off x="7406640" y="4288536"/>
            <a:ext cx="4233672" cy="713232"/>
          </a:xfrm>
          <a:prstGeom prst="roundRect">
            <a:avLst>
              <a:gd name="adj" fmla="val 1282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0" name="Nomor 5"/>
          <p:cNvSpPr txBox="1"/>
          <p:nvPr/>
        </p:nvSpPr>
        <p:spPr>
          <a:xfrm>
            <a:off x="7589520" y="43936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Judul bab 5"/>
          <p:cNvSpPr txBox="1"/>
          <p:nvPr/>
        </p:nvSpPr>
        <p:spPr>
          <a:xfrm>
            <a:off x="8275320" y="428853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Penyimpanan Data di Android</a:t>
            </a:r>
            <a:endParaRPr lang="en-US" sz="1600" dirty="0"/>
          </a:p>
        </p:txBody>
      </p:sp>
      <p:sp>
        <p:nvSpPr>
          <p:cNvPr id="22" name="Baris bab 6"/>
          <p:cNvSpPr/>
          <p:nvPr/>
        </p:nvSpPr>
        <p:spPr>
          <a:xfrm>
            <a:off x="7406640" y="5120640"/>
            <a:ext cx="4233672" cy="713232"/>
          </a:xfrm>
          <a:prstGeom prst="roundRect">
            <a:avLst>
              <a:gd name="adj" fmla="val 1282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3" name="Nomor 6"/>
          <p:cNvSpPr txBox="1"/>
          <p:nvPr/>
        </p:nvSpPr>
        <p:spPr>
          <a:xfrm>
            <a:off x="7589520" y="522579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Judul bab 6"/>
          <p:cNvSpPr txBox="1"/>
          <p:nvPr/>
        </p:nvSpPr>
        <p:spPr>
          <a:xfrm>
            <a:off x="8275320" y="51206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Firebase Realtime Database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or bab"/>
          <p:cNvSpPr txBox="1"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Pengenalan Android</a:t>
            </a:r>
            <a:endParaRPr lang="en-US" sz="3600" dirty="0"/>
          </a:p>
        </p:txBody>
      </p:sp>
      <p:sp>
        <p:nvSpPr>
          <p:cNvPr id="4" name="Ringkasan bab"/>
          <p:cNvSpPr txBox="1"/>
          <p:nvPr/>
        </p:nvSpPr>
        <p:spPr>
          <a:xfrm>
            <a:off x="1371600" y="1069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OS mobile open source berbasis Linux, dibangun dengan Java, XML, Android Studio, dan SDK.</a:t>
            </a:r>
            <a:endParaRPr lang="en-US" sz="1600" dirty="0"/>
          </a:p>
        </p:txBody>
      </p:sp>
      <p:sp>
        <p:nvSpPr>
          <p:cNvPr id="5" name="Lapisan 1"/>
          <p:cNvSpPr txBox="1"/>
          <p:nvPr/>
        </p:nvSpPr>
        <p:spPr>
          <a:xfrm>
            <a:off x="548640" y="178308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Aplikasi Sistem</a:t>
            </a:r>
            <a:endParaRPr lang="en-US" sz="1600" dirty="0"/>
          </a:p>
        </p:txBody>
      </p:sp>
      <p:sp>
        <p:nvSpPr>
          <p:cNvPr id="6" name="Lapisan 2"/>
          <p:cNvSpPr txBox="1"/>
          <p:nvPr/>
        </p:nvSpPr>
        <p:spPr>
          <a:xfrm>
            <a:off x="548640" y="2532888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Java API Framework</a:t>
            </a:r>
            <a:endParaRPr lang="en-US" sz="1600" dirty="0"/>
          </a:p>
        </p:txBody>
      </p:sp>
      <p:sp>
        <p:nvSpPr>
          <p:cNvPr id="7" name="Lapisan 3"/>
          <p:cNvSpPr txBox="1"/>
          <p:nvPr/>
        </p:nvSpPr>
        <p:spPr>
          <a:xfrm>
            <a:off x="548640" y="3282696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Pustaka C/C++</a:t>
            </a:r>
            <a:endParaRPr lang="en-US" sz="1600" dirty="0"/>
          </a:p>
        </p:txBody>
      </p:sp>
      <p:sp>
        <p:nvSpPr>
          <p:cNvPr id="8" name="Lapisan 4"/>
          <p:cNvSpPr txBox="1"/>
          <p:nvPr/>
        </p:nvSpPr>
        <p:spPr>
          <a:xfrm>
            <a:off x="548640" y="4032504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Android Runtime (ART)</a:t>
            </a:r>
            <a:endParaRPr lang="en-US" sz="1600" dirty="0"/>
          </a:p>
        </p:txBody>
      </p:sp>
      <p:sp>
        <p:nvSpPr>
          <p:cNvPr id="9" name="Lapisan 5"/>
          <p:cNvSpPr txBox="1"/>
          <p:nvPr/>
        </p:nvSpPr>
        <p:spPr>
          <a:xfrm>
            <a:off x="548640" y="4782312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Hardware Abstraction Layer</a:t>
            </a:r>
            <a:endParaRPr lang="en-US" sz="1600" dirty="0"/>
          </a:p>
        </p:txBody>
      </p:sp>
      <p:sp>
        <p:nvSpPr>
          <p:cNvPr id="10" name="Lapisan 6"/>
          <p:cNvSpPr txBox="1"/>
          <p:nvPr/>
        </p:nvSpPr>
        <p:spPr>
          <a:xfrm>
            <a:off x="548640" y="5532120"/>
            <a:ext cx="44805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Linux Kernel</a:t>
            </a:r>
            <a:endParaRPr lang="en-US" sz="1600" dirty="0"/>
          </a:p>
        </p:txBody>
      </p:sp>
      <p:sp>
        <p:nvSpPr>
          <p:cNvPr id="11" name="Kartu tools"/>
          <p:cNvSpPr/>
          <p:nvPr/>
        </p:nvSpPr>
        <p:spPr>
          <a:xfrm>
            <a:off x="5486400" y="1691640"/>
            <a:ext cx="30175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2" name="Kartu tools ikon latar"/>
          <p:cNvSpPr/>
          <p:nvPr/>
        </p:nvSpPr>
        <p:spPr>
          <a:xfrm>
            <a:off x="5669280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Kartu tools ikon" descr="Kartu tools 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0" y="1970532"/>
            <a:ext cx="228600" cy="228600"/>
          </a:xfrm>
          <a:prstGeom prst="rect">
            <a:avLst/>
          </a:prstGeom>
        </p:spPr>
      </p:pic>
      <p:sp>
        <p:nvSpPr>
          <p:cNvPr id="14" name="Kartu tools judul"/>
          <p:cNvSpPr txBox="1"/>
          <p:nvPr/>
        </p:nvSpPr>
        <p:spPr>
          <a:xfrm>
            <a:off x="6263640" y="18562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Tools</a:t>
            </a:r>
            <a:endParaRPr lang="en-US" sz="1600" dirty="0"/>
          </a:p>
        </p:txBody>
      </p:sp>
      <p:sp>
        <p:nvSpPr>
          <p:cNvPr id="15" name="Kartu tools isi"/>
          <p:cNvSpPr txBox="1"/>
          <p:nvPr/>
        </p:nvSpPr>
        <p:spPr>
          <a:xfrm>
            <a:off x="5669280" y="2441448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JDK, Android Studio (IDE resmi, berbasis Gradle), dan Android SDK. Uji di emulator AVD atau HP via USB debugging.</a:t>
            </a:r>
            <a:endParaRPr lang="en-US" sz="1400" dirty="0"/>
          </a:p>
        </p:txBody>
      </p:sp>
      <p:sp>
        <p:nvSpPr>
          <p:cNvPr id="16" name="Kartu versi"/>
          <p:cNvSpPr/>
          <p:nvPr/>
        </p:nvSpPr>
        <p:spPr>
          <a:xfrm>
            <a:off x="8714232" y="1691640"/>
            <a:ext cx="30175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7" name="Kartu versi ikon latar"/>
          <p:cNvSpPr/>
          <p:nvPr/>
        </p:nvSpPr>
        <p:spPr>
          <a:xfrm>
            <a:off x="8897112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Kartu versi ikon" descr="Kartu versi 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412" y="1970532"/>
            <a:ext cx="228600" cy="228600"/>
          </a:xfrm>
          <a:prstGeom prst="rect">
            <a:avLst/>
          </a:prstGeom>
        </p:spPr>
      </p:pic>
      <p:sp>
        <p:nvSpPr>
          <p:cNvPr id="19" name="Kartu versi judul"/>
          <p:cNvSpPr txBox="1"/>
          <p:nvPr/>
        </p:nvSpPr>
        <p:spPr>
          <a:xfrm>
            <a:off x="9491472" y="18562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Posisi &amp; versi</a:t>
            </a:r>
            <a:endParaRPr lang="en-US" sz="1600" dirty="0"/>
          </a:p>
        </p:txBody>
      </p:sp>
      <p:sp>
        <p:nvSpPr>
          <p:cNvPr id="20" name="Kartu versi isi"/>
          <p:cNvSpPr txBox="1"/>
          <p:nvPr/>
        </p:nvSpPr>
        <p:spPr>
          <a:xfrm>
            <a:off x="8897112" y="2441448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Android 11 = API level 30 (Nov 2020). Dipakai 72,92% smartphone dunia (statcounter, Okt 2020).</a:t>
            </a:r>
            <a:endParaRPr lang="en-US" sz="1400" dirty="0"/>
          </a:p>
        </p:txBody>
      </p:sp>
      <p:sp>
        <p:nvSpPr>
          <p:cNvPr id="21" name="Kartu struktur"/>
          <p:cNvSpPr/>
          <p:nvPr/>
        </p:nvSpPr>
        <p:spPr>
          <a:xfrm>
            <a:off x="5486400" y="4023360"/>
            <a:ext cx="30175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22" name="Kartu struktur ikon latar"/>
          <p:cNvSpPr/>
          <p:nvPr/>
        </p:nvSpPr>
        <p:spPr>
          <a:xfrm>
            <a:off x="5669280" y="41879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Kartu struktur ikon" descr="Kartu struktur 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0" y="4302252"/>
            <a:ext cx="228600" cy="228600"/>
          </a:xfrm>
          <a:prstGeom prst="rect">
            <a:avLst/>
          </a:prstGeom>
        </p:spPr>
      </p:pic>
      <p:sp>
        <p:nvSpPr>
          <p:cNvPr id="24" name="Kartu struktur judul"/>
          <p:cNvSpPr txBox="1"/>
          <p:nvPr/>
        </p:nvSpPr>
        <p:spPr>
          <a:xfrm>
            <a:off x="6263640" y="41879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Struktur project</a:t>
            </a:r>
            <a:endParaRPr lang="en-US" sz="1600" dirty="0"/>
          </a:p>
        </p:txBody>
      </p:sp>
      <p:sp>
        <p:nvSpPr>
          <p:cNvPr id="25" name="Kartu struktur isi"/>
          <p:cNvSpPr txBox="1"/>
          <p:nvPr/>
        </p:nvSpPr>
        <p:spPr>
          <a:xfrm>
            <a:off x="5669280" y="4773168"/>
            <a:ext cx="2651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Folder manifest, java, res, build.gradle. Siklus: Setup → Development → Debugging &amp; Testing → Publishing.</a:t>
            </a:r>
            <a:endParaRPr lang="en-US" sz="1400" dirty="0"/>
          </a:p>
        </p:txBody>
      </p:sp>
      <p:sp>
        <p:nvSpPr>
          <p:cNvPr id="26" name="Kartu publikasi"/>
          <p:cNvSpPr/>
          <p:nvPr/>
        </p:nvSpPr>
        <p:spPr>
          <a:xfrm>
            <a:off x="8714232" y="4023360"/>
            <a:ext cx="30175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27" name="Kartu publikasi ikon latar"/>
          <p:cNvSpPr/>
          <p:nvPr/>
        </p:nvSpPr>
        <p:spPr>
          <a:xfrm>
            <a:off x="8897112" y="41879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Kartu publikasi ikon" descr="Kartu publikasi ik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412" y="4302252"/>
            <a:ext cx="228600" cy="228600"/>
          </a:xfrm>
          <a:prstGeom prst="rect">
            <a:avLst/>
          </a:prstGeom>
        </p:spPr>
      </p:pic>
      <p:sp>
        <p:nvSpPr>
          <p:cNvPr id="29" name="Kartu publikasi judul"/>
          <p:cNvSpPr txBox="1"/>
          <p:nvPr/>
        </p:nvSpPr>
        <p:spPr>
          <a:xfrm>
            <a:off x="9491472" y="41879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Publikasi</a:t>
            </a:r>
            <a:endParaRPr lang="en-US" sz="1600" dirty="0"/>
          </a:p>
        </p:txBody>
      </p:sp>
      <p:sp>
        <p:nvSpPr>
          <p:cNvPr id="30" name="Kartu publikasi isi"/>
          <p:cNvSpPr txBox="1"/>
          <p:nvPr/>
        </p:nvSpPr>
        <p:spPr>
          <a:xfrm>
            <a:off x="8897112" y="4773168"/>
            <a:ext cx="2651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Google Play Store (akun developer $25), APK lewat email, atau diunggah ke website. Simpan keystore dengan aman.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or bab"/>
          <p:cNvSpPr txBox="1"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Komponen Dasar Aplikasi</a:t>
            </a:r>
            <a:endParaRPr lang="en-US" sz="3600" dirty="0"/>
          </a:p>
        </p:txBody>
      </p:sp>
      <p:sp>
        <p:nvSpPr>
          <p:cNvPr id="4" name="Ringkasan bab"/>
          <p:cNvSpPr txBox="1"/>
          <p:nvPr/>
        </p:nvSpPr>
        <p:spPr>
          <a:xfrm>
            <a:off x="1371600" y="1069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Activity menampilkan layar, Intent menghubungkan komponen, Fragment memecah UI jadi bagian reusable.</a:t>
            </a:r>
            <a:endParaRPr lang="en-US" sz="1600" dirty="0"/>
          </a:p>
        </p:txBody>
      </p:sp>
      <p:sp>
        <p:nvSpPr>
          <p:cNvPr id="5" name="Kolom Activity"/>
          <p:cNvSpPr/>
          <p:nvPr/>
        </p:nvSpPr>
        <p:spPr>
          <a:xfrm>
            <a:off x="548640" y="1691640"/>
            <a:ext cx="3544824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6" name="Ikon Activity latar"/>
          <p:cNvSpPr/>
          <p:nvPr/>
        </p:nvSpPr>
        <p:spPr>
          <a:xfrm>
            <a:off x="731520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kon Activity" descr="Ikon Activ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970532"/>
            <a:ext cx="228600" cy="228600"/>
          </a:xfrm>
          <a:prstGeom prst="rect">
            <a:avLst/>
          </a:prstGeom>
        </p:spPr>
      </p:pic>
      <p:sp>
        <p:nvSpPr>
          <p:cNvPr id="8" name="Judul Activity"/>
          <p:cNvSpPr txBox="1"/>
          <p:nvPr/>
        </p:nvSpPr>
        <p:spPr>
          <a:xfrm>
            <a:off x="1325880" y="1856232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Activity</a:t>
            </a:r>
            <a:endParaRPr lang="en-US" sz="2000" dirty="0"/>
          </a:p>
        </p:txBody>
      </p:sp>
      <p:sp>
        <p:nvSpPr>
          <p:cNvPr id="9" name="Isi Activity"/>
          <p:cNvSpPr txBox="1"/>
          <p:nvPr/>
        </p:nvSpPr>
        <p:spPr>
          <a:xfrm>
            <a:off x="731520" y="2560320"/>
            <a:ext cx="31790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Satu class Java = satu layar; extends AppCompatActivity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Layout XML dipasang lewat setContentView()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Wajib didaftarkan di AndroidManifest.xml</a:t>
            </a:r>
            <a:endParaRPr lang="en-US" sz="1400" dirty="0"/>
          </a:p>
        </p:txBody>
      </p:sp>
      <p:sp>
        <p:nvSpPr>
          <p:cNvPr id="10" name="Kolom Intent"/>
          <p:cNvSpPr/>
          <p:nvPr/>
        </p:nvSpPr>
        <p:spPr>
          <a:xfrm>
            <a:off x="4322064" y="1691640"/>
            <a:ext cx="3544824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1" name="Ikon Intent latar"/>
          <p:cNvSpPr/>
          <p:nvPr/>
        </p:nvSpPr>
        <p:spPr>
          <a:xfrm>
            <a:off x="4504944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kon Intent" descr="Ikon Int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244" y="1970532"/>
            <a:ext cx="228600" cy="228600"/>
          </a:xfrm>
          <a:prstGeom prst="rect">
            <a:avLst/>
          </a:prstGeom>
        </p:spPr>
      </p:pic>
      <p:sp>
        <p:nvSpPr>
          <p:cNvPr id="13" name="Judul Intent"/>
          <p:cNvSpPr txBox="1"/>
          <p:nvPr/>
        </p:nvSpPr>
        <p:spPr>
          <a:xfrm>
            <a:off x="5099304" y="1856232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Intent</a:t>
            </a:r>
            <a:endParaRPr lang="en-US" sz="2000" dirty="0"/>
          </a:p>
        </p:txBody>
      </p:sp>
      <p:sp>
        <p:nvSpPr>
          <p:cNvPr id="14" name="Isi Intent"/>
          <p:cNvSpPr txBox="1"/>
          <p:nvPr/>
        </p:nvSpPr>
        <p:spPr>
          <a:xfrm>
            <a:off x="4504944" y="2560320"/>
            <a:ext cx="31790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Explicit: menyebut class tujuan (pindah layar dalam satu aplikasi)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Implicit: hanya menyebut aksi (mis. ACTION_VIEW); sistem mencari handler, App Chooser bila lebih dari satu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lewat putExtra, Bundle, Parcelable</a:t>
            </a:r>
            <a:endParaRPr lang="en-US" sz="1400" dirty="0"/>
          </a:p>
        </p:txBody>
      </p:sp>
      <p:sp>
        <p:nvSpPr>
          <p:cNvPr id="15" name="Kolom Fragment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6" name="Ikon Fragment latar"/>
          <p:cNvSpPr/>
          <p:nvPr/>
        </p:nvSpPr>
        <p:spPr>
          <a:xfrm>
            <a:off x="8278368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kon Fragment" descr="Ikon Fragm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668" y="1970532"/>
            <a:ext cx="228600" cy="228600"/>
          </a:xfrm>
          <a:prstGeom prst="rect">
            <a:avLst/>
          </a:prstGeom>
        </p:spPr>
      </p:pic>
      <p:sp>
        <p:nvSpPr>
          <p:cNvPr id="18" name="Judul Fragment"/>
          <p:cNvSpPr txBox="1"/>
          <p:nvPr/>
        </p:nvSpPr>
        <p:spPr>
          <a:xfrm>
            <a:off x="8872728" y="1856232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Fragment</a:t>
            </a:r>
            <a:endParaRPr lang="en-US" sz="2000" dirty="0"/>
          </a:p>
        </p:txBody>
      </p:sp>
      <p:sp>
        <p:nvSpPr>
          <p:cNvPr id="19" name="Isi Fragment"/>
          <p:cNvSpPr txBox="1"/>
          <p:nvPr/>
        </p:nvSpPr>
        <p:spPr>
          <a:xfrm>
            <a:off x="8278368" y="2560320"/>
            <a:ext cx="31790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Potongan UI reusable dengan layout dan lifecycle sendiri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Hidup bergantung activity induk; satu activity bisa memuat banyak fragment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Tidak perlu didaftarkan di manifest</a:t>
            </a:r>
            <a:endParaRPr lang="en-US" sz="1400" dirty="0"/>
          </a:p>
        </p:txBody>
      </p:sp>
      <p:sp>
        <p:nvSpPr>
          <p:cNvPr id="20" name="Judul lifecycle"/>
          <p:cNvSpPr txBox="1"/>
          <p:nvPr/>
        </p:nvSpPr>
        <p:spPr>
          <a:xfrm>
            <a:off x="54864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Daur hidup Activity</a:t>
            </a:r>
            <a:endParaRPr lang="en-US" sz="1600" dirty="0"/>
          </a:p>
        </p:txBody>
      </p:sp>
      <p:sp>
        <p:nvSpPr>
          <p:cNvPr id="21" name="Catatan hasil"/>
          <p:cNvSpPr txBox="1"/>
          <p:nvPr/>
        </p:nvSpPr>
        <p:spPr>
          <a:xfrm>
            <a:off x="4572000" y="5166360"/>
            <a:ext cx="7068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5"/>
                </a:solidFill>
              </a:rPr>
              <a:t>Kirim balik data: startActivityForResult → setResult → onActivityResult</a:t>
            </a:r>
            <a:endParaRPr lang="en-US" sz="1200" dirty="0"/>
          </a:p>
        </p:txBody>
      </p:sp>
      <p:sp>
        <p:nvSpPr>
          <p:cNvPr id="22" name="Tahap onCreate()"/>
          <p:cNvSpPr txBox="1"/>
          <p:nvPr/>
        </p:nvSpPr>
        <p:spPr>
          <a:xfrm>
            <a:off x="548640" y="5623560"/>
            <a:ext cx="14120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onCreate()</a:t>
            </a:r>
            <a:endParaRPr lang="en-US" sz="1400" dirty="0"/>
          </a:p>
        </p:txBody>
      </p:sp>
      <p:sp>
        <p:nvSpPr>
          <p:cNvPr id="23" name="Panah 1"/>
          <p:cNvSpPr txBox="1"/>
          <p:nvPr/>
        </p:nvSpPr>
        <p:spPr>
          <a:xfrm>
            <a:off x="1960735" y="56235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Tahap onStart()"/>
          <p:cNvSpPr txBox="1"/>
          <p:nvPr/>
        </p:nvSpPr>
        <p:spPr>
          <a:xfrm>
            <a:off x="2161903" y="5623560"/>
            <a:ext cx="14120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onStart()</a:t>
            </a:r>
            <a:endParaRPr lang="en-US" sz="1400" dirty="0"/>
          </a:p>
        </p:txBody>
      </p:sp>
      <p:sp>
        <p:nvSpPr>
          <p:cNvPr id="25" name="Panah 2"/>
          <p:cNvSpPr txBox="1"/>
          <p:nvPr/>
        </p:nvSpPr>
        <p:spPr>
          <a:xfrm>
            <a:off x="3573998" y="56235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Tahap onResume()"/>
          <p:cNvSpPr txBox="1"/>
          <p:nvPr/>
        </p:nvSpPr>
        <p:spPr>
          <a:xfrm>
            <a:off x="3775166" y="5623560"/>
            <a:ext cx="14120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onResume()</a:t>
            </a:r>
            <a:endParaRPr lang="en-US" sz="1400" dirty="0"/>
          </a:p>
        </p:txBody>
      </p:sp>
      <p:sp>
        <p:nvSpPr>
          <p:cNvPr id="27" name="Panah 3"/>
          <p:cNvSpPr txBox="1"/>
          <p:nvPr/>
        </p:nvSpPr>
        <p:spPr>
          <a:xfrm>
            <a:off x="5187261" y="56235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Tahap onPause()"/>
          <p:cNvSpPr txBox="1"/>
          <p:nvPr/>
        </p:nvSpPr>
        <p:spPr>
          <a:xfrm>
            <a:off x="5388429" y="5623560"/>
            <a:ext cx="14120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onPause()</a:t>
            </a:r>
            <a:endParaRPr lang="en-US" sz="1400" dirty="0"/>
          </a:p>
        </p:txBody>
      </p:sp>
      <p:sp>
        <p:nvSpPr>
          <p:cNvPr id="29" name="Panah 4"/>
          <p:cNvSpPr txBox="1"/>
          <p:nvPr/>
        </p:nvSpPr>
        <p:spPr>
          <a:xfrm>
            <a:off x="6800523" y="56235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›</a:t>
            </a:r>
            <a:endParaRPr lang="en-US" sz="1800" dirty="0"/>
          </a:p>
        </p:txBody>
      </p:sp>
      <p:sp>
        <p:nvSpPr>
          <p:cNvPr id="30" name="Tahap onStop()"/>
          <p:cNvSpPr txBox="1"/>
          <p:nvPr/>
        </p:nvSpPr>
        <p:spPr>
          <a:xfrm>
            <a:off x="7001691" y="5623560"/>
            <a:ext cx="14120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onStop()</a:t>
            </a:r>
            <a:endParaRPr lang="en-US" sz="1400" dirty="0"/>
          </a:p>
        </p:txBody>
      </p:sp>
      <p:sp>
        <p:nvSpPr>
          <p:cNvPr id="31" name="Panah 5"/>
          <p:cNvSpPr txBox="1"/>
          <p:nvPr/>
        </p:nvSpPr>
        <p:spPr>
          <a:xfrm>
            <a:off x="8413786" y="56235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Tahap onRestart()"/>
          <p:cNvSpPr txBox="1"/>
          <p:nvPr/>
        </p:nvSpPr>
        <p:spPr>
          <a:xfrm>
            <a:off x="8614954" y="5623560"/>
            <a:ext cx="14120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onRestart()</a:t>
            </a:r>
            <a:endParaRPr lang="en-US" sz="1400" dirty="0"/>
          </a:p>
        </p:txBody>
      </p:sp>
      <p:sp>
        <p:nvSpPr>
          <p:cNvPr id="33" name="Panah 6"/>
          <p:cNvSpPr txBox="1"/>
          <p:nvPr/>
        </p:nvSpPr>
        <p:spPr>
          <a:xfrm>
            <a:off x="10027049" y="56235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›</a:t>
            </a:r>
            <a:endParaRPr lang="en-US" sz="1800" dirty="0"/>
          </a:p>
        </p:txBody>
      </p:sp>
      <p:sp>
        <p:nvSpPr>
          <p:cNvPr id="34" name="Tahap onDestroy()"/>
          <p:cNvSpPr txBox="1"/>
          <p:nvPr/>
        </p:nvSpPr>
        <p:spPr>
          <a:xfrm>
            <a:off x="10228217" y="5623560"/>
            <a:ext cx="14120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onDestroy()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or bab"/>
          <p:cNvSpPr txBox="1"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Antarmuka &amp; Pengalaman Pengguna</a:t>
            </a:r>
            <a:endParaRPr lang="en-US" sz="3600" dirty="0"/>
          </a:p>
        </p:txBody>
      </p:sp>
      <p:sp>
        <p:nvSpPr>
          <p:cNvPr id="4" name="Ringkasan bab"/>
          <p:cNvSpPr txBox="1"/>
          <p:nvPr/>
        </p:nvSpPr>
        <p:spPr>
          <a:xfrm>
            <a:off x="1371600" y="1069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Tampilan dibangun dari View dan ViewGroup; untuk daftar data, RecyclerView menggantikan ListView.</a:t>
            </a:r>
            <a:endParaRPr lang="en-US" sz="1600" dirty="0"/>
          </a:p>
        </p:txBody>
      </p:sp>
      <p:sp>
        <p:nvSpPr>
          <p:cNvPr id="5" name="Kartu View &amp; ViewGroup"/>
          <p:cNvSpPr/>
          <p:nvPr/>
        </p:nvSpPr>
        <p:spPr>
          <a:xfrm>
            <a:off x="548640" y="1691640"/>
            <a:ext cx="35478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6" name="Kartu View &amp; ViewGroup ikon latar"/>
          <p:cNvSpPr/>
          <p:nvPr/>
        </p:nvSpPr>
        <p:spPr>
          <a:xfrm>
            <a:off x="731520" y="18196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Kartu View &amp; ViewGroup ikon" descr="Kartu View &amp; ViewGroup 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915668"/>
            <a:ext cx="192024" cy="192024"/>
          </a:xfrm>
          <a:prstGeom prst="rect">
            <a:avLst/>
          </a:prstGeom>
        </p:spPr>
      </p:pic>
      <p:sp>
        <p:nvSpPr>
          <p:cNvPr id="8" name="Kartu View &amp;amp; ViewGroup judul"/>
          <p:cNvSpPr txBox="1"/>
          <p:nvPr/>
        </p:nvSpPr>
        <p:spPr>
          <a:xfrm>
            <a:off x="1252728" y="1819656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View &amp; ViewGroup</a:t>
            </a:r>
            <a:endParaRPr lang="en-US" sz="1600" dirty="0"/>
          </a:p>
        </p:txBody>
      </p:sp>
      <p:sp>
        <p:nvSpPr>
          <p:cNvPr id="9" name="Kartu View &amp;amp; ViewGroup isi"/>
          <p:cNvSpPr txBox="1"/>
          <p:nvPr/>
        </p:nvSpPr>
        <p:spPr>
          <a:xfrm>
            <a:off x="731520" y="2295144"/>
            <a:ext cx="31821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View = elemen layar (Button, TextView). ViewGroup = wadahnya (LinearLayout, ConstraintLayout).</a:t>
            </a:r>
            <a:endParaRPr lang="en-US" sz="1400" dirty="0"/>
          </a:p>
        </p:txBody>
      </p:sp>
      <p:sp>
        <p:nvSpPr>
          <p:cNvPr id="10" name="Kartu Style &amp; Theme"/>
          <p:cNvSpPr/>
          <p:nvPr/>
        </p:nvSpPr>
        <p:spPr>
          <a:xfrm>
            <a:off x="4315968" y="1691640"/>
            <a:ext cx="35478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1" name="Kartu Style &amp; Theme ikon latar"/>
          <p:cNvSpPr/>
          <p:nvPr/>
        </p:nvSpPr>
        <p:spPr>
          <a:xfrm>
            <a:off x="4498848" y="18196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Kartu Style &amp; Theme ikon" descr="Kartu Style &amp; Theme 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915668"/>
            <a:ext cx="192024" cy="192024"/>
          </a:xfrm>
          <a:prstGeom prst="rect">
            <a:avLst/>
          </a:prstGeom>
        </p:spPr>
      </p:pic>
      <p:sp>
        <p:nvSpPr>
          <p:cNvPr id="13" name="Kartu Style &amp;amp; Theme judul"/>
          <p:cNvSpPr txBox="1"/>
          <p:nvPr/>
        </p:nvSpPr>
        <p:spPr>
          <a:xfrm>
            <a:off x="5020056" y="1819656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Style &amp; Theme</a:t>
            </a:r>
            <a:endParaRPr lang="en-US" sz="1600" dirty="0"/>
          </a:p>
        </p:txBody>
      </p:sp>
      <p:sp>
        <p:nvSpPr>
          <p:cNvPr id="14" name="Kartu Style &amp;amp; Theme isi"/>
          <p:cNvSpPr txBox="1"/>
          <p:nvPr/>
        </p:nvSpPr>
        <p:spPr>
          <a:xfrm>
            <a:off x="4498848" y="2295144"/>
            <a:ext cx="31821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Style = kumpulan atribut tampilan. Theme = style untuk satu aplikasi atau activity.</a:t>
            </a:r>
            <a:endParaRPr lang="en-US" sz="1400" dirty="0"/>
          </a:p>
        </p:txBody>
      </p:sp>
      <p:sp>
        <p:nvSpPr>
          <p:cNvPr id="15" name="Kartu Input &amp; interaksi"/>
          <p:cNvSpPr/>
          <p:nvPr/>
        </p:nvSpPr>
        <p:spPr>
          <a:xfrm>
            <a:off x="548640" y="3246120"/>
            <a:ext cx="35478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Kartu Input &amp; interaksi ikon latar"/>
          <p:cNvSpPr/>
          <p:nvPr/>
        </p:nvSpPr>
        <p:spPr>
          <a:xfrm>
            <a:off x="731520" y="33741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Kartu Input &amp; interaksi ikon" descr="Kartu Input &amp; interaksi 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3470148"/>
            <a:ext cx="192024" cy="192024"/>
          </a:xfrm>
          <a:prstGeom prst="rect">
            <a:avLst/>
          </a:prstGeom>
        </p:spPr>
      </p:pic>
      <p:sp>
        <p:nvSpPr>
          <p:cNvPr id="18" name="Kartu Input &amp;amp; interaksi judul"/>
          <p:cNvSpPr txBox="1"/>
          <p:nvPr/>
        </p:nvSpPr>
        <p:spPr>
          <a:xfrm>
            <a:off x="1252728" y="3374136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 &amp; interaksi</a:t>
            </a:r>
            <a:endParaRPr lang="en-US" sz="1600" dirty="0"/>
          </a:p>
        </p:txBody>
      </p:sp>
      <p:sp>
        <p:nvSpPr>
          <p:cNvPr id="19" name="Kartu Input &amp;amp; interaksi isi"/>
          <p:cNvSpPr txBox="1"/>
          <p:nvPr/>
        </p:nvSpPr>
        <p:spPr>
          <a:xfrm>
            <a:off x="731520" y="3849624"/>
            <a:ext cx="31821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EditText, CheckBox, RadioButton, Switch, Spinner. Klik: android:onClick atau OnClickListener.</a:t>
            </a:r>
            <a:endParaRPr lang="en-US" sz="1400" dirty="0"/>
          </a:p>
        </p:txBody>
      </p:sp>
      <p:sp>
        <p:nvSpPr>
          <p:cNvPr id="20" name="Kartu Menu, dialog, navigasi"/>
          <p:cNvSpPr/>
          <p:nvPr/>
        </p:nvSpPr>
        <p:spPr>
          <a:xfrm>
            <a:off x="4315968" y="3246120"/>
            <a:ext cx="35478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1" name="Kartu Menu, dialog, navigasi ikon latar"/>
          <p:cNvSpPr/>
          <p:nvPr/>
        </p:nvSpPr>
        <p:spPr>
          <a:xfrm>
            <a:off x="4498848" y="33741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Kartu Menu, dialog, navigasi ikon" descr="Kartu Menu, dialog, navigasi ik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3470148"/>
            <a:ext cx="192024" cy="192024"/>
          </a:xfrm>
          <a:prstGeom prst="rect">
            <a:avLst/>
          </a:prstGeom>
        </p:spPr>
      </p:pic>
      <p:sp>
        <p:nvSpPr>
          <p:cNvPr id="23" name="Kartu Menu, dialog, navigasi judul"/>
          <p:cNvSpPr txBox="1"/>
          <p:nvPr/>
        </p:nvSpPr>
        <p:spPr>
          <a:xfrm>
            <a:off x="5020056" y="3374136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Menu, dialog, navigasi</a:t>
            </a:r>
            <a:endParaRPr lang="en-US" sz="1600" dirty="0"/>
          </a:p>
        </p:txBody>
      </p:sp>
      <p:sp>
        <p:nvSpPr>
          <p:cNvPr id="24" name="Kartu Menu, dialog, navigasi isi"/>
          <p:cNvSpPr txBox="1"/>
          <p:nvPr/>
        </p:nvSpPr>
        <p:spPr>
          <a:xfrm>
            <a:off x="4498848" y="3849624"/>
            <a:ext cx="31821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Option, context, popup menu; AlertDialog; Date/TimePicker; back navigation dan drawer.</a:t>
            </a:r>
            <a:endParaRPr lang="en-US" sz="1400" dirty="0"/>
          </a:p>
        </p:txBody>
      </p:sp>
      <p:sp>
        <p:nvSpPr>
          <p:cNvPr id="25" name="Kartu Drawable &amp; aset"/>
          <p:cNvSpPr/>
          <p:nvPr/>
        </p:nvSpPr>
        <p:spPr>
          <a:xfrm>
            <a:off x="548640" y="4800600"/>
            <a:ext cx="35478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6" name="Kartu Drawable &amp; aset ikon latar"/>
          <p:cNvSpPr/>
          <p:nvPr/>
        </p:nvSpPr>
        <p:spPr>
          <a:xfrm>
            <a:off x="731520" y="4928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Kartu Drawable &amp; aset ikon" descr="Kartu Drawable &amp; aset ik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" y="5024628"/>
            <a:ext cx="192024" cy="192024"/>
          </a:xfrm>
          <a:prstGeom prst="rect">
            <a:avLst/>
          </a:prstGeom>
        </p:spPr>
      </p:pic>
      <p:sp>
        <p:nvSpPr>
          <p:cNvPr id="28" name="Kartu Drawable &amp;amp; aset judul"/>
          <p:cNvSpPr txBox="1"/>
          <p:nvPr/>
        </p:nvSpPr>
        <p:spPr>
          <a:xfrm>
            <a:off x="1252728" y="4928616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Drawable &amp; aset</a:t>
            </a:r>
            <a:endParaRPr lang="en-US" sz="1600" dirty="0"/>
          </a:p>
        </p:txBody>
      </p:sp>
      <p:sp>
        <p:nvSpPr>
          <p:cNvPr id="29" name="Kartu Drawable &amp;amp; aset isi"/>
          <p:cNvSpPr txBox="1"/>
          <p:nvPr/>
        </p:nvSpPr>
        <p:spPr>
          <a:xfrm>
            <a:off x="731520" y="5404104"/>
            <a:ext cx="31821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Gambar tersimpan di res/drawable. Image/Vector Asset Studio membuat ikon berbagai ukuran.</a:t>
            </a:r>
            <a:endParaRPr lang="en-US" sz="1400" dirty="0"/>
          </a:p>
        </p:txBody>
      </p:sp>
      <p:sp>
        <p:nvSpPr>
          <p:cNvPr id="30" name="Kartu Toast &amp; Localization"/>
          <p:cNvSpPr/>
          <p:nvPr/>
        </p:nvSpPr>
        <p:spPr>
          <a:xfrm>
            <a:off x="4315968" y="4800600"/>
            <a:ext cx="35478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31" name="Kartu Toast &amp; Localization ikon latar"/>
          <p:cNvSpPr/>
          <p:nvPr/>
        </p:nvSpPr>
        <p:spPr>
          <a:xfrm>
            <a:off x="4498848" y="4928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Kartu Toast &amp; Localization ikon" descr="Kartu Toast &amp; Localization ik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860" y="5024628"/>
            <a:ext cx="192024" cy="192024"/>
          </a:xfrm>
          <a:prstGeom prst="rect">
            <a:avLst/>
          </a:prstGeom>
        </p:spPr>
      </p:pic>
      <p:sp>
        <p:nvSpPr>
          <p:cNvPr id="33" name="Kartu Toast &amp;amp; Localization judul"/>
          <p:cNvSpPr txBox="1"/>
          <p:nvPr/>
        </p:nvSpPr>
        <p:spPr>
          <a:xfrm>
            <a:off x="5020056" y="4928616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Toast &amp; Localization</a:t>
            </a:r>
            <a:endParaRPr lang="en-US" sz="1600" dirty="0"/>
          </a:p>
        </p:txBody>
      </p:sp>
      <p:sp>
        <p:nvSpPr>
          <p:cNvPr id="34" name="Kartu Toast &amp;amp; Localization isi"/>
          <p:cNvSpPr txBox="1"/>
          <p:nvPr/>
        </p:nvSpPr>
        <p:spPr>
          <a:xfrm>
            <a:off x="4498848" y="5404104"/>
            <a:ext cx="31821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Toast = pesan pop-up singkat. Localization = bahasa app mengikuti perangkat.</a:t>
            </a:r>
            <a:endParaRPr lang="en-US" sz="1400" dirty="0"/>
          </a:p>
        </p:txBody>
      </p:sp>
      <p:sp>
        <p:nvSpPr>
          <p:cNvPr id="35" name="Panel RecyclerView"/>
          <p:cNvSpPr/>
          <p:nvPr/>
        </p:nvSpPr>
        <p:spPr>
          <a:xfrm>
            <a:off x="8183880" y="1691640"/>
            <a:ext cx="3456432" cy="4526280"/>
          </a:xfrm>
          <a:prstGeom prst="roundRect">
            <a:avLst>
              <a:gd name="adj" fmla="val 2646"/>
            </a:avLst>
          </a:prstGeom>
          <a:solidFill>
            <a:schemeClr val="tx2"/>
          </a:solidFill>
          <a:ln/>
        </p:spPr>
      </p:sp>
      <p:sp>
        <p:nvSpPr>
          <p:cNvPr id="36" name="Judul RecyclerView"/>
          <p:cNvSpPr txBox="1"/>
          <p:nvPr/>
        </p:nvSpPr>
        <p:spPr>
          <a:xfrm>
            <a:off x="841248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RecyclerView</a:t>
            </a:r>
            <a:endParaRPr lang="en-US" sz="2200" dirty="0"/>
          </a:p>
        </p:txBody>
      </p:sp>
      <p:sp>
        <p:nvSpPr>
          <p:cNvPr id="37" name="Keterangan RecyclerView"/>
          <p:cNvSpPr txBox="1"/>
          <p:nvPr/>
        </p:nvSpPr>
        <p:spPr>
          <a:xfrm>
            <a:off x="841248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Lebih fleksibel dan efisien dari ListView</a:t>
            </a:r>
            <a:endParaRPr lang="en-US" sz="1400" dirty="0"/>
          </a:p>
        </p:txBody>
      </p:sp>
      <p:sp>
        <p:nvSpPr>
          <p:cNvPr id="38" name="Tahap Data"/>
          <p:cNvSpPr/>
          <p:nvPr/>
        </p:nvSpPr>
        <p:spPr>
          <a:xfrm>
            <a:off x="8412480" y="3063240"/>
            <a:ext cx="2999232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9" name="Isi tahap Data"/>
          <p:cNvSpPr txBox="1"/>
          <p:nvPr/>
        </p:nvSpPr>
        <p:spPr>
          <a:xfrm>
            <a:off x="8549640" y="3063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</a:t>
            </a:r>
            <a:r>
              <a:rPr lang="en-US" sz="1400" dirty="0">
                <a:solidFill>
                  <a:schemeClr val="bg1"/>
                </a:solidFill>
              </a:rPr>
              <a:t> → class model Book</a:t>
            </a:r>
            <a:endParaRPr lang="en-US" sz="1400" dirty="0"/>
          </a:p>
        </p:txBody>
      </p:sp>
      <p:sp>
        <p:nvSpPr>
          <p:cNvPr id="40" name="Tahap Adapter"/>
          <p:cNvSpPr/>
          <p:nvPr/>
        </p:nvSpPr>
        <p:spPr>
          <a:xfrm>
            <a:off x="8412480" y="3849624"/>
            <a:ext cx="2999232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1" name="Isi tahap Adapter"/>
          <p:cNvSpPr txBox="1"/>
          <p:nvPr/>
        </p:nvSpPr>
        <p:spPr>
          <a:xfrm>
            <a:off x="8549640" y="38496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Adapter</a:t>
            </a:r>
            <a:r>
              <a:rPr lang="en-US" sz="1400" dirty="0">
                <a:solidFill>
                  <a:schemeClr val="bg1"/>
                </a:solidFill>
              </a:rPr>
              <a:t> → ListBookAdapter</a:t>
            </a:r>
            <a:endParaRPr lang="en-US" sz="1400" dirty="0"/>
          </a:p>
        </p:txBody>
      </p:sp>
      <p:sp>
        <p:nvSpPr>
          <p:cNvPr id="42" name="Tahap ViewHolder"/>
          <p:cNvSpPr/>
          <p:nvPr/>
        </p:nvSpPr>
        <p:spPr>
          <a:xfrm>
            <a:off x="8412480" y="4636008"/>
            <a:ext cx="2999232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3" name="Isi tahap ViewHolder"/>
          <p:cNvSpPr txBox="1"/>
          <p:nvPr/>
        </p:nvSpPr>
        <p:spPr>
          <a:xfrm>
            <a:off x="8549640" y="4636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ViewHolder</a:t>
            </a:r>
            <a:r>
              <a:rPr lang="en-US" sz="1400" dirty="0">
                <a:solidFill>
                  <a:schemeClr val="bg1"/>
                </a:solidFill>
              </a:rPr>
              <a:t> → pegang view tiap item</a:t>
            </a:r>
            <a:endParaRPr lang="en-US" sz="1400" dirty="0"/>
          </a:p>
        </p:txBody>
      </p:sp>
      <p:sp>
        <p:nvSpPr>
          <p:cNvPr id="44" name="Tahap LayoutManager"/>
          <p:cNvSpPr/>
          <p:nvPr/>
        </p:nvSpPr>
        <p:spPr>
          <a:xfrm>
            <a:off x="8412480" y="5422392"/>
            <a:ext cx="2999232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5" name="Isi tahap LayoutManager"/>
          <p:cNvSpPr txBox="1"/>
          <p:nvPr/>
        </p:nvSpPr>
        <p:spPr>
          <a:xfrm>
            <a:off x="8549640" y="54223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LayoutManager</a:t>
            </a:r>
            <a:r>
              <a:rPr lang="en-US" sz="1400" dirty="0">
                <a:solidFill>
                  <a:schemeClr val="bg1"/>
                </a:solidFill>
              </a:rPr>
              <a:t> → atur susunan daftar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or bab"/>
          <p:cNvSpPr txBox="1"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Background Task</a:t>
            </a:r>
            <a:endParaRPr lang="en-US" sz="3600" dirty="0"/>
          </a:p>
        </p:txBody>
      </p:sp>
      <p:sp>
        <p:nvSpPr>
          <p:cNvPr id="4" name="Ringkasan bab"/>
          <p:cNvSpPr txBox="1"/>
          <p:nvPr/>
        </p:nvSpPr>
        <p:spPr>
          <a:xfrm>
            <a:off x="1371600" y="1069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Tugas terjadwal dan pemberitahuan yang tetap bekerja walau aplikasi sedang tidak dibuka.</a:t>
            </a:r>
            <a:endParaRPr lang="en-US" sz="1600" dirty="0"/>
          </a:p>
        </p:txBody>
      </p:sp>
      <p:sp>
        <p:nvSpPr>
          <p:cNvPr id="5" name="Kolom AlarmManager"/>
          <p:cNvSpPr/>
          <p:nvPr/>
        </p:nvSpPr>
        <p:spPr>
          <a:xfrm>
            <a:off x="548640" y="1691640"/>
            <a:ext cx="5408676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6" name="Ikon AlarmManager latar"/>
          <p:cNvSpPr/>
          <p:nvPr/>
        </p:nvSpPr>
        <p:spPr>
          <a:xfrm>
            <a:off x="731520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kon AlarmManager" descr="Ikon AlarmMana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970532"/>
            <a:ext cx="228600" cy="228600"/>
          </a:xfrm>
          <a:prstGeom prst="rect">
            <a:avLst/>
          </a:prstGeom>
        </p:spPr>
      </p:pic>
      <p:sp>
        <p:nvSpPr>
          <p:cNvPr id="8" name="Judul AlarmManager"/>
          <p:cNvSpPr txBox="1"/>
          <p:nvPr/>
        </p:nvSpPr>
        <p:spPr>
          <a:xfrm>
            <a:off x="1325880" y="1856232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AlarmManager</a:t>
            </a:r>
            <a:endParaRPr lang="en-US" sz="2000" dirty="0"/>
          </a:p>
        </p:txBody>
      </p:sp>
      <p:sp>
        <p:nvSpPr>
          <p:cNvPr id="9" name="Isi AlarmManager"/>
          <p:cNvSpPr txBox="1"/>
          <p:nvPr/>
        </p:nvSpPr>
        <p:spPr>
          <a:xfrm>
            <a:off x="731520" y="2514600"/>
            <a:ext cx="50429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Menjalankan Intent pada waktu atau interval tertentu, di luar life cycle aplikasi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Bisa membangunkan perangkat yang tidur; jadwal hilang setelah reboot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Cocok untuk alarm dan reminder lokal; hindari untuk tugas jaringan karena boros baterai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Interval ringan: setInexactRepeating + ELAPSED_REALTIME, hindari RTC_WAKEUP</a:t>
            </a:r>
            <a:endParaRPr lang="en-US" sz="1400" dirty="0"/>
          </a:p>
        </p:txBody>
      </p:sp>
      <p:sp>
        <p:nvSpPr>
          <p:cNvPr id="10" name="Kolom JobScheduler"/>
          <p:cNvSpPr/>
          <p:nvPr/>
        </p:nvSpPr>
        <p:spPr>
          <a:xfrm>
            <a:off x="6231636" y="1691640"/>
            <a:ext cx="5408676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11" name="Ikon JobScheduler latar"/>
          <p:cNvSpPr/>
          <p:nvPr/>
        </p:nvSpPr>
        <p:spPr>
          <a:xfrm>
            <a:off x="6414516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kon JobScheduler" descr="Ikon JobSchedul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1970532"/>
            <a:ext cx="228600" cy="228600"/>
          </a:xfrm>
          <a:prstGeom prst="rect">
            <a:avLst/>
          </a:prstGeom>
        </p:spPr>
      </p:pic>
      <p:sp>
        <p:nvSpPr>
          <p:cNvPr id="13" name="Judul JobScheduler"/>
          <p:cNvSpPr txBox="1"/>
          <p:nvPr/>
        </p:nvSpPr>
        <p:spPr>
          <a:xfrm>
            <a:off x="7008876" y="1856232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JobScheduler</a:t>
            </a:r>
            <a:endParaRPr lang="en-US" sz="2000" dirty="0"/>
          </a:p>
        </p:txBody>
      </p:sp>
      <p:sp>
        <p:nvSpPr>
          <p:cNvPr id="14" name="Isi JobScheduler"/>
          <p:cNvSpPr txBox="1"/>
          <p:nvPr/>
        </p:nvSpPr>
        <p:spPr>
          <a:xfrm>
            <a:off x="6414516" y="2514600"/>
            <a:ext cx="50429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Berjalan saat kondisi di JobInfo.Builder terpenuhi (mis. jaringan atau charging)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Logika tugas di JobService: onStartJob(), onStopJob(), jobFinished()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Lebih fleksibel dan hemat baterai dari AlarmManager; minimal API 21 (Lollipop)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Jadwal bisa bertahan setelah reboot</a:t>
            </a:r>
            <a:endParaRPr lang="en-US" sz="1400" dirty="0"/>
          </a:p>
        </p:txBody>
      </p:sp>
      <p:sp>
        <p:nvSpPr>
          <p:cNvPr id="15" name="Ikon notifikasi latar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kon notifikasi" descr="Ikon notifikas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154930"/>
            <a:ext cx="251460" cy="251460"/>
          </a:xfrm>
          <a:prstGeom prst="rect">
            <a:avLst/>
          </a:prstGeom>
        </p:spPr>
      </p:pic>
      <p:sp>
        <p:nvSpPr>
          <p:cNvPr id="17" name="Judul notifikasi"/>
          <p:cNvSpPr txBox="1"/>
          <p:nvPr/>
        </p:nvSpPr>
        <p:spPr>
          <a:xfrm>
            <a:off x="1188720" y="5029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Notifikasi</a:t>
            </a:r>
            <a:endParaRPr lang="en-US" sz="2000" dirty="0"/>
          </a:p>
        </p:txBody>
      </p:sp>
      <p:sp>
        <p:nvSpPr>
          <p:cNvPr id="18" name="Keterangan notifikasi"/>
          <p:cNvSpPr txBox="1"/>
          <p:nvPr/>
        </p:nvSpPr>
        <p:spPr>
          <a:xfrm>
            <a:off x="548640" y="5669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Muncul di luar UI normal aplikasi</a:t>
            </a:r>
            <a:endParaRPr lang="en-US" sz="1400" dirty="0"/>
          </a:p>
        </p:txBody>
      </p:sp>
      <p:sp>
        <p:nvSpPr>
          <p:cNvPr id="19" name="Langkah notifikasi 1"/>
          <p:cNvSpPr/>
          <p:nvPr/>
        </p:nvSpPr>
        <p:spPr>
          <a:xfrm>
            <a:off x="2834640" y="4937760"/>
            <a:ext cx="206425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0" name="Nomor langkah 1"/>
          <p:cNvSpPr txBox="1"/>
          <p:nvPr/>
        </p:nvSpPr>
        <p:spPr>
          <a:xfrm>
            <a:off x="2971800" y="5029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Isi langkah 1"/>
          <p:cNvSpPr txBox="1"/>
          <p:nvPr/>
        </p:nvSpPr>
        <p:spPr>
          <a:xfrm>
            <a:off x="2971800" y="5486400"/>
            <a:ext cx="1789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Buat NotificationChannel (API 26+)</a:t>
            </a:r>
            <a:endParaRPr lang="en-US" sz="1400" dirty="0"/>
          </a:p>
        </p:txBody>
      </p:sp>
      <p:sp>
        <p:nvSpPr>
          <p:cNvPr id="22" name="Langkah notifikasi 2"/>
          <p:cNvSpPr/>
          <p:nvPr/>
        </p:nvSpPr>
        <p:spPr>
          <a:xfrm>
            <a:off x="5081778" y="4937760"/>
            <a:ext cx="206425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3" name="Nomor langkah 2"/>
          <p:cNvSpPr txBox="1"/>
          <p:nvPr/>
        </p:nvSpPr>
        <p:spPr>
          <a:xfrm>
            <a:off x="5218938" y="5029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Isi langkah 2"/>
          <p:cNvSpPr txBox="1"/>
          <p:nvPr/>
        </p:nvSpPr>
        <p:spPr>
          <a:xfrm>
            <a:off x="5218938" y="5486400"/>
            <a:ext cx="1789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Susun isi: ikon, judul, teks via Builder</a:t>
            </a:r>
            <a:endParaRPr lang="en-US" sz="1400" dirty="0"/>
          </a:p>
        </p:txBody>
      </p:sp>
      <p:sp>
        <p:nvSpPr>
          <p:cNvPr id="25" name="Langkah notifikasi 3"/>
          <p:cNvSpPr/>
          <p:nvPr/>
        </p:nvSpPr>
        <p:spPr>
          <a:xfrm>
            <a:off x="7328916" y="4937760"/>
            <a:ext cx="206425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6" name="Nomor langkah 3"/>
          <p:cNvSpPr txBox="1"/>
          <p:nvPr/>
        </p:nvSpPr>
        <p:spPr>
          <a:xfrm>
            <a:off x="7466076" y="5029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Isi langkah 3"/>
          <p:cNvSpPr txBox="1"/>
          <p:nvPr/>
        </p:nvSpPr>
        <p:spPr>
          <a:xfrm>
            <a:off x="7466076" y="5486400"/>
            <a:ext cx="1789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Pasang PendingIntent untuk aksi klik</a:t>
            </a:r>
            <a:endParaRPr lang="en-US" sz="1400" dirty="0"/>
          </a:p>
        </p:txBody>
      </p:sp>
      <p:sp>
        <p:nvSpPr>
          <p:cNvPr id="28" name="Langkah notifikasi 4"/>
          <p:cNvSpPr/>
          <p:nvPr/>
        </p:nvSpPr>
        <p:spPr>
          <a:xfrm>
            <a:off x="9576054" y="4937760"/>
            <a:ext cx="206425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9" name="Nomor langkah 4"/>
          <p:cNvSpPr txBox="1"/>
          <p:nvPr/>
        </p:nvSpPr>
        <p:spPr>
          <a:xfrm>
            <a:off x="9713214" y="5029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Isi langkah 4"/>
          <p:cNvSpPr txBox="1"/>
          <p:nvPr/>
        </p:nvSpPr>
        <p:spPr>
          <a:xfrm>
            <a:off x="9713214" y="5486400"/>
            <a:ext cx="1789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Kirim dengan notify() dan ID unik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or bab"/>
          <p:cNvSpPr txBox="1"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Penyimpanan Data di Android</a:t>
            </a:r>
            <a:endParaRPr lang="en-US" sz="3600" dirty="0"/>
          </a:p>
        </p:txBody>
      </p:sp>
      <p:sp>
        <p:nvSpPr>
          <p:cNvPr id="4" name="Ringkasan bab"/>
          <p:cNvSpPr txBox="1"/>
          <p:nvPr/>
        </p:nvSpPr>
        <p:spPr>
          <a:xfrm>
            <a:off x="1371600" y="1069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Pilih tempat simpan sesuai kebutuhan: key-value, file, database SQLite, atau di luar perangkat.</a:t>
            </a:r>
            <a:endParaRPr lang="en-US" sz="1600" dirty="0"/>
          </a:p>
        </p:txBody>
      </p:sp>
      <p:graphicFrame>
        <p:nvGraphicFramePr>
          <p:cNvPr id="7" name="Tabel opsi penyimpan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675120" cy="436168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Opsi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Sifat dan kegunaan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6FD9"/>
                          </a:solidFill>
                        </a:rPr>
                        <a:t>SharedPreferences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</a:rPr>
                        <a:t>Pasangan key-value data primitif, privat; cocok untuk pengaturan dan skor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6FD9"/>
                          </a:solidFill>
                        </a:rPr>
                        <a:t>Internal Storage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</a:rPr>
                        <a:t>File privat di memori perangkat; ikut terhapus saat aplikasi di-uninstall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6FD9"/>
                          </a:solidFill>
                        </a:rPr>
                        <a:t>External Storage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</a:rPr>
                        <a:t>File publik (mis. SD Card), butuh permission di manifest, bisa dibaca aplikasi lain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6FD9"/>
                          </a:solidFill>
                        </a:rPr>
                        <a:t>SQLite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</a:rPr>
                        <a:t>Database privat dengan struktur tabel; operasi CRUD memakai SQL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6FD9"/>
                          </a:solidFill>
                        </a:rPr>
                        <a:t>Content Provider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</a:rPr>
                        <a:t>Penyimpanan privat yang bisa dibuka juga untuk publik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6FD9"/>
                          </a:solidFill>
                        </a:rPr>
                        <a:t>Di luar perangkat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</a:rPr>
                        <a:t>Server sendiri lewat jaringan, cloud backup, atau Firebase Realtime Database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Kartu SharedPreferences"/>
          <p:cNvSpPr/>
          <p:nvPr/>
        </p:nvSpPr>
        <p:spPr>
          <a:xfrm>
            <a:off x="7498080" y="1691640"/>
            <a:ext cx="414223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" name="Kartu SharedPreferences ikon latar"/>
          <p:cNvSpPr/>
          <p:nvPr/>
        </p:nvSpPr>
        <p:spPr>
          <a:xfrm>
            <a:off x="7680960" y="1856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Kartu SharedPreferences ikon" descr="Kartu SharedPreferences 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1970532"/>
            <a:ext cx="228600" cy="228600"/>
          </a:xfrm>
          <a:prstGeom prst="rect">
            <a:avLst/>
          </a:prstGeom>
        </p:spPr>
      </p:pic>
      <p:sp>
        <p:nvSpPr>
          <p:cNvPr id="9" name="Kartu SharedPreferences judul"/>
          <p:cNvSpPr txBox="1"/>
          <p:nvPr/>
        </p:nvSpPr>
        <p:spPr>
          <a:xfrm>
            <a:off x="8275320" y="185623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SharedPreferences</a:t>
            </a:r>
            <a:endParaRPr lang="en-US" sz="1600" dirty="0"/>
          </a:p>
        </p:txBody>
      </p:sp>
      <p:sp>
        <p:nvSpPr>
          <p:cNvPr id="10" name="Kartu SharedPreferences isi"/>
          <p:cNvSpPr txBox="1"/>
          <p:nvPr/>
        </p:nvSpPr>
        <p:spPr>
          <a:xfrm>
            <a:off x="7680960" y="2441448"/>
            <a:ext cx="3776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Simpan di onPause(), pulihkan di onCreate()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apply() asinkron, commit() sinkron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Beda dengan Saved Instance State: data bertahan lintas sesi, bukan sekadar saat rotasi</a:t>
            </a:r>
            <a:endParaRPr lang="en-US" sz="1400" dirty="0"/>
          </a:p>
        </p:txBody>
      </p:sp>
      <p:sp>
        <p:nvSpPr>
          <p:cNvPr id="11" name="Kartu SQLite"/>
          <p:cNvSpPr/>
          <p:nvPr/>
        </p:nvSpPr>
        <p:spPr>
          <a:xfrm>
            <a:off x="7498080" y="4251960"/>
            <a:ext cx="4142232" cy="1801368"/>
          </a:xfrm>
          <a:prstGeom prst="roundRect">
            <a:avLst>
              <a:gd name="adj" fmla="val 5076"/>
            </a:avLst>
          </a:prstGeom>
          <a:solidFill>
            <a:schemeClr val="bg2"/>
          </a:solidFill>
          <a:ln/>
        </p:spPr>
      </p:sp>
      <p:sp>
        <p:nvSpPr>
          <p:cNvPr id="12" name="Kartu SQLite ikon latar"/>
          <p:cNvSpPr/>
          <p:nvPr/>
        </p:nvSpPr>
        <p:spPr>
          <a:xfrm>
            <a:off x="7680960" y="4416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Kartu SQLite ikon" descr="Kartu SQLite 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4530852"/>
            <a:ext cx="228600" cy="228600"/>
          </a:xfrm>
          <a:prstGeom prst="rect">
            <a:avLst/>
          </a:prstGeom>
        </p:spPr>
      </p:pic>
      <p:sp>
        <p:nvSpPr>
          <p:cNvPr id="14" name="Kartu SQLite judul"/>
          <p:cNvSpPr txBox="1"/>
          <p:nvPr/>
        </p:nvSpPr>
        <p:spPr>
          <a:xfrm>
            <a:off x="8275320" y="441655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SQLite</a:t>
            </a:r>
            <a:endParaRPr lang="en-US" sz="1600" dirty="0"/>
          </a:p>
        </p:txBody>
      </p:sp>
      <p:sp>
        <p:nvSpPr>
          <p:cNvPr id="15" name="Kartu SQLite isi"/>
          <p:cNvSpPr txBox="1"/>
          <p:nvPr/>
        </p:nvSpPr>
        <p:spPr>
          <a:xfrm>
            <a:off x="7680960" y="5001768"/>
            <a:ext cx="3776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Dibuat lewat SQLiteOpenHelper: onCreate() menjalankan CREATE TABLE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Baca dengan rawQuery() + Cursor, tulis dengan execSQL()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or bab"/>
          <p:cNvSpPr txBox="1"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Firebase Realtime Database</a:t>
            </a:r>
            <a:endParaRPr lang="en-US" sz="3600" dirty="0"/>
          </a:p>
        </p:txBody>
      </p:sp>
      <p:sp>
        <p:nvSpPr>
          <p:cNvPr id="4" name="Ringkasan bab"/>
          <p:cNvSpPr txBox="1"/>
          <p:nvPr/>
        </p:nvSpPr>
        <p:spPr>
          <a:xfrm>
            <a:off x="1371600" y="1069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Database cloud NoSQL berformat JSON, tersinkron realtime ke semua client, dan tersedia saat offline.</a:t>
            </a:r>
            <a:endParaRPr lang="en-US" sz="1600" dirty="0"/>
          </a:p>
        </p:txBody>
      </p:sp>
      <p:sp>
        <p:nvSpPr>
          <p:cNvPr id="5" name="Langkah Firebase 1"/>
          <p:cNvSpPr/>
          <p:nvPr/>
        </p:nvSpPr>
        <p:spPr>
          <a:xfrm>
            <a:off x="548640" y="1691640"/>
            <a:ext cx="54864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6" name="Nomor Firebase 1"/>
          <p:cNvSpPr txBox="1"/>
          <p:nvPr/>
        </p:nvSpPr>
        <p:spPr>
          <a:xfrm>
            <a:off x="713232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Isi Firebase 1"/>
          <p:cNvSpPr txBox="1"/>
          <p:nvPr/>
        </p:nvSpPr>
        <p:spPr>
          <a:xfrm>
            <a:off x="1371600" y="1691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Buat project</a:t>
            </a:r>
            <a:r>
              <a:rPr lang="en-US" sz="1400" dirty="0">
                <a:solidFill>
                  <a:schemeClr val="tx1"/>
                </a:solidFill>
              </a:rPr>
              <a:t> di console.firebase.google.com dengan akun Google</a:t>
            </a:r>
            <a:endParaRPr lang="en-US" sz="1400" dirty="0"/>
          </a:p>
        </p:txBody>
      </p:sp>
      <p:sp>
        <p:nvSpPr>
          <p:cNvPr id="8" name="Langkah Firebase 2"/>
          <p:cNvSpPr/>
          <p:nvPr/>
        </p:nvSpPr>
        <p:spPr>
          <a:xfrm>
            <a:off x="548640" y="2624328"/>
            <a:ext cx="54864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9" name="Nomor Firebase 2"/>
          <p:cNvSpPr txBox="1"/>
          <p:nvPr/>
        </p:nvSpPr>
        <p:spPr>
          <a:xfrm>
            <a:off x="713232" y="280720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Isi Firebase 2"/>
          <p:cNvSpPr txBox="1"/>
          <p:nvPr/>
        </p:nvSpPr>
        <p:spPr>
          <a:xfrm>
            <a:off x="1371600" y="262432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Register app</a:t>
            </a:r>
            <a:r>
              <a:rPr lang="en-US" sz="1400" dirty="0">
                <a:solidFill>
                  <a:schemeClr val="tx1"/>
                </a:solidFill>
              </a:rPr>
              <a:t>: isi package name, lalu unduh google-services.json ke folder app</a:t>
            </a:r>
            <a:endParaRPr lang="en-US" sz="1400" dirty="0"/>
          </a:p>
        </p:txBody>
      </p:sp>
      <p:sp>
        <p:nvSpPr>
          <p:cNvPr id="11" name="Langkah Firebase 3"/>
          <p:cNvSpPr/>
          <p:nvPr/>
        </p:nvSpPr>
        <p:spPr>
          <a:xfrm>
            <a:off x="548640" y="3557016"/>
            <a:ext cx="54864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2" name="Nomor Firebase 3"/>
          <p:cNvSpPr txBox="1"/>
          <p:nvPr/>
        </p:nvSpPr>
        <p:spPr>
          <a:xfrm>
            <a:off x="713232" y="373989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Isi Firebase 3"/>
          <p:cNvSpPr txBox="1"/>
          <p:nvPr/>
        </p:nvSpPr>
        <p:spPr>
          <a:xfrm>
            <a:off x="1371600" y="35570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Tambah SDK</a:t>
            </a:r>
            <a:r>
              <a:rPr lang="en-US" sz="1400" dirty="0">
                <a:solidFill>
                  <a:schemeClr val="tx1"/>
                </a:solidFill>
              </a:rPr>
              <a:t>: plugin google-services di Gradle dan dependency firebase-database, lalu Sync</a:t>
            </a:r>
            <a:endParaRPr lang="en-US" sz="1400" dirty="0"/>
          </a:p>
        </p:txBody>
      </p:sp>
      <p:sp>
        <p:nvSpPr>
          <p:cNvPr id="14" name="Langkah Firebase 4"/>
          <p:cNvSpPr/>
          <p:nvPr/>
        </p:nvSpPr>
        <p:spPr>
          <a:xfrm>
            <a:off x="548640" y="4489704"/>
            <a:ext cx="54864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5" name="Nomor Firebase 4"/>
          <p:cNvSpPr txBox="1"/>
          <p:nvPr/>
        </p:nvSpPr>
        <p:spPr>
          <a:xfrm>
            <a:off x="713232" y="467258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Isi Firebase 4"/>
          <p:cNvSpPr txBox="1"/>
          <p:nvPr/>
        </p:nvSpPr>
        <p:spPr>
          <a:xfrm>
            <a:off x="1371600" y="448970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Atur Rules</a:t>
            </a:r>
            <a:r>
              <a:rPr lang="en-US" sz="1400" dirty="0">
                <a:solidFill>
                  <a:schemeClr val="tx1"/>
                </a:solidFill>
              </a:rPr>
              <a:t>: read/write true hanya untuk uji coba; versi aman memakai auth != null</a:t>
            </a:r>
            <a:endParaRPr lang="en-US" sz="1400" dirty="0"/>
          </a:p>
        </p:txBody>
      </p:sp>
      <p:sp>
        <p:nvSpPr>
          <p:cNvPr id="17" name="Langkah Firebase 5"/>
          <p:cNvSpPr/>
          <p:nvPr/>
        </p:nvSpPr>
        <p:spPr>
          <a:xfrm>
            <a:off x="548640" y="5422392"/>
            <a:ext cx="54864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8" name="Nomor Firebase 5"/>
          <p:cNvSpPr txBox="1"/>
          <p:nvPr/>
        </p:nvSpPr>
        <p:spPr>
          <a:xfrm>
            <a:off x="713232" y="560527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Isi Firebase 5"/>
          <p:cNvSpPr txBox="1"/>
          <p:nvPr/>
        </p:nvSpPr>
        <p:spPr>
          <a:xfrm>
            <a:off x="1371600" y="542239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Siapkan referensi</a:t>
            </a:r>
            <a:r>
              <a:rPr lang="en-US" sz="1400" dirty="0">
                <a:solidFill>
                  <a:schemeClr val="tx1"/>
                </a:solidFill>
              </a:rPr>
              <a:t>: FirebaseDatabase.getInstance() dan getReference() di onCreate()</a:t>
            </a:r>
            <a:endParaRPr lang="en-US" sz="1400" dirty="0"/>
          </a:p>
        </p:txBody>
      </p:sp>
      <p:sp>
        <p:nvSpPr>
          <p:cNvPr id="20" name="Kartu Create"/>
          <p:cNvSpPr/>
          <p:nvPr/>
        </p:nvSpPr>
        <p:spPr>
          <a:xfrm>
            <a:off x="6400800" y="1691640"/>
            <a:ext cx="2505456" cy="2176272"/>
          </a:xfrm>
          <a:prstGeom prst="roundRect">
            <a:avLst>
              <a:gd name="adj" fmla="val 4202"/>
            </a:avLst>
          </a:prstGeom>
          <a:solidFill>
            <a:schemeClr val="bg2"/>
          </a:solidFill>
          <a:ln/>
        </p:spPr>
      </p:sp>
      <p:sp>
        <p:nvSpPr>
          <p:cNvPr id="21" name="Huruf C"/>
          <p:cNvSpPr txBox="1"/>
          <p:nvPr/>
        </p:nvSpPr>
        <p:spPr>
          <a:xfrm>
            <a:off x="6583680" y="18562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22" name="Judul Create"/>
          <p:cNvSpPr txBox="1"/>
          <p:nvPr/>
        </p:nvSpPr>
        <p:spPr>
          <a:xfrm>
            <a:off x="7223760" y="1856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</a:t>
            </a:r>
            <a:endParaRPr lang="en-US" sz="1800" dirty="0"/>
          </a:p>
        </p:txBody>
      </p:sp>
      <p:sp>
        <p:nvSpPr>
          <p:cNvPr id="23" name="Isi Create"/>
          <p:cNvSpPr txBox="1"/>
          <p:nvPr/>
        </p:nvSpPr>
        <p:spPr>
          <a:xfrm>
            <a:off x="6583680" y="251460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push().getKey() membuat id unik, lalu child(id).setValue(objek).</a:t>
            </a:r>
            <a:endParaRPr lang="en-US" sz="1400" dirty="0"/>
          </a:p>
        </p:txBody>
      </p:sp>
      <p:sp>
        <p:nvSpPr>
          <p:cNvPr id="24" name="Kartu Read"/>
          <p:cNvSpPr/>
          <p:nvPr/>
        </p:nvSpPr>
        <p:spPr>
          <a:xfrm>
            <a:off x="9134856" y="1691640"/>
            <a:ext cx="2505456" cy="2176272"/>
          </a:xfrm>
          <a:prstGeom prst="roundRect">
            <a:avLst>
              <a:gd name="adj" fmla="val 4202"/>
            </a:avLst>
          </a:prstGeom>
          <a:solidFill>
            <a:schemeClr val="bg2"/>
          </a:solidFill>
          <a:ln/>
        </p:spPr>
      </p:sp>
      <p:sp>
        <p:nvSpPr>
          <p:cNvPr id="25" name="Huruf R"/>
          <p:cNvSpPr txBox="1"/>
          <p:nvPr/>
        </p:nvSpPr>
        <p:spPr>
          <a:xfrm>
            <a:off x="9317736" y="18562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R</a:t>
            </a:r>
            <a:endParaRPr lang="en-US" sz="2200" dirty="0"/>
          </a:p>
        </p:txBody>
      </p:sp>
      <p:sp>
        <p:nvSpPr>
          <p:cNvPr id="26" name="Judul Read"/>
          <p:cNvSpPr txBox="1"/>
          <p:nvPr/>
        </p:nvSpPr>
        <p:spPr>
          <a:xfrm>
            <a:off x="9957816" y="1856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</a:t>
            </a:r>
            <a:endParaRPr lang="en-US" sz="1800" dirty="0"/>
          </a:p>
        </p:txBody>
      </p:sp>
      <p:sp>
        <p:nvSpPr>
          <p:cNvPr id="27" name="Isi Read"/>
          <p:cNvSpPr txBox="1"/>
          <p:nvPr/>
        </p:nvSpPr>
        <p:spPr>
          <a:xfrm>
            <a:off x="9317736" y="251460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addValueEventListener(): onDataChange() terpanggil tiap data berubah, jadi list ikut update.</a:t>
            </a:r>
            <a:endParaRPr lang="en-US" sz="1400" dirty="0"/>
          </a:p>
        </p:txBody>
      </p:sp>
      <p:sp>
        <p:nvSpPr>
          <p:cNvPr id="28" name="Kartu Update"/>
          <p:cNvSpPr/>
          <p:nvPr/>
        </p:nvSpPr>
        <p:spPr>
          <a:xfrm>
            <a:off x="6400800" y="4069080"/>
            <a:ext cx="2505456" cy="2176272"/>
          </a:xfrm>
          <a:prstGeom prst="roundRect">
            <a:avLst>
              <a:gd name="adj" fmla="val 4202"/>
            </a:avLst>
          </a:prstGeom>
          <a:solidFill>
            <a:schemeClr val="bg2"/>
          </a:solidFill>
          <a:ln/>
        </p:spPr>
      </p:sp>
      <p:sp>
        <p:nvSpPr>
          <p:cNvPr id="29" name="Huruf U"/>
          <p:cNvSpPr txBox="1"/>
          <p:nvPr/>
        </p:nvSpPr>
        <p:spPr>
          <a:xfrm>
            <a:off x="6583680" y="42336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U</a:t>
            </a:r>
            <a:endParaRPr lang="en-US" sz="2200" dirty="0"/>
          </a:p>
        </p:txBody>
      </p:sp>
      <p:sp>
        <p:nvSpPr>
          <p:cNvPr id="30" name="Judul Update"/>
          <p:cNvSpPr txBox="1"/>
          <p:nvPr/>
        </p:nvSpPr>
        <p:spPr>
          <a:xfrm>
            <a:off x="7223760" y="4233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Update</a:t>
            </a:r>
            <a:endParaRPr lang="en-US" sz="1800" dirty="0"/>
          </a:p>
        </p:txBody>
      </p:sp>
      <p:sp>
        <p:nvSpPr>
          <p:cNvPr id="31" name="Isi Update"/>
          <p:cNvSpPr txBox="1"/>
          <p:nvPr/>
        </p:nvSpPr>
        <p:spPr>
          <a:xfrm>
            <a:off x="6583680" y="489204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setValue() ke id yang sama menimpa data lama (overwrite).</a:t>
            </a:r>
            <a:endParaRPr lang="en-US" sz="1400" dirty="0"/>
          </a:p>
        </p:txBody>
      </p:sp>
      <p:sp>
        <p:nvSpPr>
          <p:cNvPr id="32" name="Kartu Delete"/>
          <p:cNvSpPr/>
          <p:nvPr/>
        </p:nvSpPr>
        <p:spPr>
          <a:xfrm>
            <a:off x="9134856" y="4069080"/>
            <a:ext cx="2505456" cy="2176272"/>
          </a:xfrm>
          <a:prstGeom prst="roundRect">
            <a:avLst>
              <a:gd name="adj" fmla="val 4202"/>
            </a:avLst>
          </a:prstGeom>
          <a:solidFill>
            <a:schemeClr val="bg2"/>
          </a:solidFill>
          <a:ln/>
        </p:spPr>
      </p:sp>
      <p:sp>
        <p:nvSpPr>
          <p:cNvPr id="33" name="Huruf D"/>
          <p:cNvSpPr txBox="1"/>
          <p:nvPr/>
        </p:nvSpPr>
        <p:spPr>
          <a:xfrm>
            <a:off x="9317736" y="42336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34" name="Judul Delete"/>
          <p:cNvSpPr txBox="1"/>
          <p:nvPr/>
        </p:nvSpPr>
        <p:spPr>
          <a:xfrm>
            <a:off x="9957816" y="4233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Delete</a:t>
            </a:r>
            <a:endParaRPr lang="en-US" sz="1800" dirty="0"/>
          </a:p>
        </p:txBody>
      </p:sp>
      <p:sp>
        <p:nvSpPr>
          <p:cNvPr id="35" name="Isi Delete"/>
          <p:cNvSpPr txBox="1"/>
          <p:nvPr/>
        </p:nvSpPr>
        <p:spPr>
          <a:xfrm>
            <a:off x="9317736" y="489204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child(id).removeValue() menghapus data pada id tersebut.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droid Hijau">
  <a:themeElements>
    <a:clrScheme name="Biru Teal">
      <a:dk1>
        <a:sysClr val="windowText" lastClr="000000"/>
      </a:dk1>
      <a:lt1>
        <a:sysClr val="window" lastClr="FFFFFF"/>
      </a:lt1>
      <a:dk2>
        <a:srgbClr val="1F2A44"/>
      </a:dk2>
      <a:lt2>
        <a:srgbClr val="E6EDF7"/>
      </a:lt2>
      <a:accent1>
        <a:srgbClr val="1E6FD9"/>
      </a:accent1>
      <a:accent2>
        <a:srgbClr val="4FD1C5"/>
      </a:accent2>
      <a:accent3>
        <a:srgbClr val="1A4FA0"/>
      </a:accent3>
      <a:accent4>
        <a:srgbClr val="38B6FF"/>
      </a:accent4>
      <a:accent5>
        <a:srgbClr val="0E7C86"/>
      </a:accent5>
      <a:accent6>
        <a:srgbClr val="123C7A"/>
      </a:accent6>
      <a:hlink>
        <a:srgbClr val="0E7C86"/>
      </a:hlink>
      <a:folHlink>
        <a:srgbClr val="6B7FB3"/>
      </a:folHlink>
    </a:clrScheme>
    <a:fontScheme name="Android Hija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979</Words>
  <Application>Microsoft Office PowerPoint</Application>
  <PresentationFormat>Layar Lebar</PresentationFormat>
  <Paragraphs>170</Paragraphs>
  <Slides>7</Slides>
  <Notes>7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Android Hijau</vt:lpstr>
      <vt:lpstr>Pemrograman Mobile Android dengan Java</vt:lpstr>
      <vt:lpstr>Pengenalan Android</vt:lpstr>
      <vt:lpstr>Komponen Dasar Aplikasi</vt:lpstr>
      <vt:lpstr>Antarmuka &amp; Pengalaman Pengguna</vt:lpstr>
      <vt:lpstr>Background Task</vt:lpstr>
      <vt:lpstr>Penyimpanan Data di Android</vt:lpstr>
      <vt:lpstr>Firebase Realtime Database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Rangkuman Pemrograman Mobile Android dengan Java (Bab 1-6)</dc:title>
  <dc:subject>PptxGenJS Presentation</dc:subject>
  <dc:creator>PptxGenJS</dc:creator>
  <cp:lastModifiedBy>Michael S V Sinurat</cp:lastModifiedBy>
  <cp:revision>9</cp:revision>
  <dcterms:created xsi:type="dcterms:W3CDTF">2026-10-19T08:20:11Z</dcterms:created>
  <dcterms:modified xsi:type="dcterms:W3CDTF">2026-10-19T08:38:48Z</dcterms:modified>
</cp:coreProperties>
</file>